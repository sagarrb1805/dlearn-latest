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y="6858000" cx="12192000"/>
  <p:notesSz cx="7103725" cy="10234275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4527FD-C22F-4528-B2BB-24ACAEFD76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4527FD-C22F-4528-B2BB-24ACAEFD76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www.seoczar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hyperlink" Target="https://www.seoczar.com/static-website-desig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hyperlink" Target="https://www.seoczar.com/static-website-design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hyperlink" Target="https://www.seoczar.com/dynamic-website-design/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seoczar.com/ecommerce-website-design/" TargetMode="External"/><Relationship Id="rId2" Type="http://schemas.openxmlformats.org/officeDocument/2006/relationships/hyperlink" Target="https://www.seoczar.com/dynamic-website-design/" TargetMode="Externa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hyperlink" Target="https://www.seoczar.com/dynamic-website-design/" TargetMode="External"/><Relationship Id="rId2" Type="http://schemas.openxmlformats.org/officeDocument/2006/relationships/hyperlink" Target="https://www.seoczar.com/static-website-design/" TargetMode="Externa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www.seoczar.com/dynamic-website-design/" TargetMode="External"/><Relationship Id="rId1" Type="http://schemas.openxmlformats.org/officeDocument/2006/relationships/hyperlink" Target="https://www.seoczar.com/static-website-design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s://www.seocza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sz="6000">
                <a:solidFill>
                  <a:srgbClr val="FFC000"/>
                </a:solidFill>
                <a:latin typeface="Times New Roman" panose="02020603050405020304" charset="0"/>
              </a:rPr>
              <a:t>Static</a:t>
            </a:r>
            <a:r>
              <a:rPr lang="en-US" sz="6000">
                <a:solidFill>
                  <a:schemeClr val="accent2"/>
                </a:solidFill>
                <a:latin typeface="Times New Roman" panose="02020603050405020304" charset="0"/>
              </a:rPr>
              <a:t> Vs </a:t>
            </a:r>
            <a:r>
              <a:rPr lang="en-US" sz="6000">
                <a:solidFill>
                  <a:srgbClr val="FFC000"/>
                </a:solidFill>
                <a:latin typeface="Times New Roman" panose="02020603050405020304" charset="0"/>
              </a:rPr>
              <a:t>Dynamic Website </a:t>
            </a:r>
            <a:endParaRPr lang="en-US" sz="6000">
              <a:solidFill>
                <a:srgbClr val="FFC000"/>
              </a:solidFill>
              <a:latin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745" y="2477770"/>
            <a:ext cx="6507480" cy="2929255"/>
          </a:xfrm>
        </p:spPr>
        <p:txBody>
          <a:bodyPr/>
          <a:p>
            <a:r>
              <a:rPr lang="en-US" sz="3600">
                <a:solidFill>
                  <a:srgbClr val="00B0F0"/>
                </a:solidFill>
                <a:latin typeface="Times New Roman" panose="02020603050405020304" charset="0"/>
              </a:rPr>
              <a:t>Presented by : </a:t>
            </a:r>
            <a:r>
              <a:rPr lang="en-US" sz="3600">
                <a:solidFill>
                  <a:srgbClr val="00B0F0"/>
                </a:solidFill>
                <a:latin typeface="Times New Roman" panose="02020603050405020304" charset="0"/>
                <a:hlinkClick r:id="rId1" tooltip="" action="ppaction://hlinkfile"/>
              </a:rPr>
              <a:t>SEO</a:t>
            </a:r>
            <a:r>
              <a:rPr lang="en-US" sz="3600">
                <a:solidFill>
                  <a:srgbClr val="00B0F0"/>
                </a:solidFill>
                <a:latin typeface="Times New Roman" panose="02020603050405020304" charset="0"/>
              </a:rPr>
              <a:t> Intern</a:t>
            </a:r>
            <a:endParaRPr lang="en-US" sz="3600">
              <a:solidFill>
                <a:srgbClr val="00B0F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005" y="876300"/>
            <a:ext cx="5476875" cy="5785485"/>
          </a:xfr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It is the most simple type of website.</a:t>
            </a:r>
            <a:br>
              <a:rPr lang="en-US">
                <a:solidFill>
                  <a:srgbClr val="FFC000"/>
                </a:solidFill>
                <a:latin typeface="Times New Roman" panose="02020603050405020304" charset="0"/>
              </a:rPr>
            </a:br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It is written on the plain HTML Language.</a:t>
            </a:r>
            <a:br>
              <a:rPr lang="en-US">
                <a:solidFill>
                  <a:srgbClr val="FFC000"/>
                </a:solidFill>
                <a:latin typeface="Times New Roman" panose="02020603050405020304" charset="0"/>
              </a:rPr>
            </a:br>
            <a:r>
              <a:rPr lang="en-US">
                <a:solidFill>
                  <a:srgbClr val="FFC000"/>
                </a:solidFill>
                <a:latin typeface="Times New Roman" panose="02020603050405020304" charset="0"/>
                <a:hlinkClick r:id="rId1" tooltip="" action="ppaction://hlinkfile"/>
              </a:rPr>
              <a:t>Static website </a:t>
            </a:r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not need of programming and database to make the website.</a:t>
            </a:r>
            <a:br>
              <a:rPr lang="en-US">
                <a:solidFill>
                  <a:srgbClr val="FFC000"/>
                </a:solidFill>
                <a:latin typeface="Times New Roman" panose="02020603050405020304" charset="0"/>
              </a:rPr>
            </a:br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The  document are store in the file system.</a:t>
            </a:r>
            <a:br>
              <a:rPr lang="en-US">
                <a:solidFill>
                  <a:srgbClr val="FFC000"/>
                </a:solidFill>
                <a:latin typeface="Times New Roman" panose="02020603050405020304" charset="0"/>
              </a:rPr>
            </a:br>
            <a:endParaRPr lang="en-US">
              <a:solidFill>
                <a:srgbClr val="FFC000"/>
              </a:solidFill>
              <a:latin typeface="Times New Roman" panose="02020603050405020304" charset="0"/>
            </a:endParaRPr>
          </a:p>
        </p:txBody>
      </p:sp>
      <p:pic>
        <p:nvPicPr>
          <p:cNvPr id="4" name="Content Placeholder 3" descr="student-849820_640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1235" y="-3810"/>
            <a:ext cx="6160770" cy="6865620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317500" y="190500"/>
            <a:ext cx="532638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solidFill>
                  <a:schemeClr val="accent2"/>
                </a:solidFill>
                <a:latin typeface="Times New Roman" panose="02020603050405020304" charset="0"/>
                <a:sym typeface="+mn-ea"/>
              </a:rPr>
              <a:t>Static Website</a:t>
            </a:r>
            <a:endParaRPr lang="en-US" sz="3600" b="1">
              <a:solidFill>
                <a:schemeClr val="accent2"/>
              </a:solidFill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" y="175260"/>
            <a:ext cx="6243955" cy="1482725"/>
          </a:xfrm>
        </p:spPr>
        <p:txBody>
          <a:bodyPr/>
          <a:p>
            <a:r>
              <a:rPr lang="en-US" sz="4000" b="1">
                <a:solidFill>
                  <a:srgbClr val="FF0000"/>
                </a:solidFill>
                <a:latin typeface="Times New Roman" panose="02020603050405020304" charset="0"/>
              </a:rPr>
              <a:t>Advantages of the 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charset="0"/>
                <a:sym typeface="+mn-ea"/>
                <a:hlinkClick r:id="rId1" tooltip="" action="ppaction://hlinkfile"/>
              </a:rPr>
              <a:t>Static Website</a:t>
            </a:r>
            <a:br>
              <a:rPr lang="en-US" b="1">
                <a:solidFill>
                  <a:schemeClr val="accent2"/>
                </a:solidFill>
                <a:latin typeface="Times New Roman" panose="02020603050405020304" charset="0"/>
                <a:sym typeface="+mn-ea"/>
                <a:hlinkClick r:id="rId1" tooltip="" action="ppaction://hlinkfile"/>
              </a:rPr>
            </a:br>
            <a:endParaRPr lang="en-US"/>
          </a:p>
        </p:txBody>
      </p:sp>
      <p:pic>
        <p:nvPicPr>
          <p:cNvPr id="4" name="Content Placeholder 3" descr="website-1624028_640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6760" y="3810"/>
            <a:ext cx="6367780" cy="6896100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135890" y="1911985"/>
            <a:ext cx="5326380" cy="458406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Quick to develop.</a:t>
            </a:r>
            <a:endParaRPr lang="en-US" sz="4400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Low cost to develop.</a:t>
            </a:r>
            <a:endParaRPr lang="en-US" sz="4400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It is ideal for small websites.</a:t>
            </a:r>
            <a:endParaRPr lang="en-US" sz="4400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It is faster to transfer </a:t>
            </a:r>
            <a:endParaRPr lang="en-US" sz="4400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455" y="876935"/>
            <a:ext cx="5466715" cy="5785485"/>
          </a:xfrm>
        </p:spPr>
        <p:txBody>
          <a:bodyPr/>
          <a:p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It is the  collection of web pages the content changes dynamically.</a:t>
            </a:r>
            <a:br>
              <a:rPr lang="en-US">
                <a:solidFill>
                  <a:srgbClr val="FFC000"/>
                </a:solidFill>
                <a:latin typeface="Times New Roman" panose="02020603050405020304" charset="0"/>
              </a:rPr>
            </a:br>
            <a:r>
              <a:rPr lang="en-US">
                <a:solidFill>
                  <a:srgbClr val="FFC000"/>
                </a:solidFill>
                <a:latin typeface="Times New Roman" panose="02020603050405020304" charset="0"/>
                <a:hlinkClick r:id="rId1" tooltip="" action="ppaction://hlinkfile"/>
              </a:rPr>
              <a:t>Dynamic website</a:t>
            </a:r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 used the scripting language  to generate the dynamic content.</a:t>
            </a:r>
            <a:br>
              <a:rPr lang="en-US">
                <a:solidFill>
                  <a:srgbClr val="FFC000"/>
                </a:solidFill>
                <a:latin typeface="Times New Roman" panose="02020603050405020304" charset="0"/>
              </a:rPr>
            </a:br>
            <a:r>
              <a:rPr lang="en-US">
                <a:solidFill>
                  <a:srgbClr val="FFC000"/>
                </a:solidFill>
                <a:latin typeface="Times New Roman" panose="02020603050405020304" charset="0"/>
              </a:rPr>
              <a:t>It is manily used the CMS(Content Management System)</a:t>
            </a:r>
            <a:endParaRPr lang="en-US">
              <a:solidFill>
                <a:srgbClr val="FFC000"/>
              </a:solidFill>
              <a:latin typeface="Times New Roman" panose="02020603050405020304" charset="0"/>
            </a:endParaRPr>
          </a:p>
        </p:txBody>
      </p:sp>
      <p:pic>
        <p:nvPicPr>
          <p:cNvPr id="4" name="Content Placeholder 3" descr="laptop-1149412_640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7275" y="0"/>
            <a:ext cx="6024880" cy="68573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317500" y="190500"/>
            <a:ext cx="532638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solidFill>
                  <a:schemeClr val="accent2"/>
                </a:solidFill>
                <a:latin typeface="Times New Roman" panose="02020603050405020304" charset="0"/>
                <a:sym typeface="+mn-ea"/>
              </a:rPr>
              <a:t>Dynamic Website</a:t>
            </a:r>
            <a:endParaRPr lang="en-US" sz="3600" b="1">
              <a:solidFill>
                <a:schemeClr val="accent2"/>
              </a:solidFill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" y="794385"/>
            <a:ext cx="6847840" cy="833120"/>
          </a:xfrm>
        </p:spPr>
        <p:txBody>
          <a:bodyPr/>
          <a:p>
            <a:r>
              <a:rPr lang="en-US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Advantages of the Dynamic </a:t>
            </a:r>
            <a:r>
              <a:rPr lang="en-US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 Website</a:t>
            </a:r>
            <a:br>
              <a:rPr lang="en-US" b="1">
                <a:solidFill>
                  <a:schemeClr val="accent2"/>
                </a:solidFill>
                <a:latin typeface="Times New Roman" panose="02020603050405020304" charset="0"/>
                <a:sym typeface="+mn-ea"/>
              </a:rPr>
            </a:br>
            <a:br>
              <a:rPr lang="en-US"/>
            </a:br>
            <a:endParaRPr lang="en-US"/>
          </a:p>
        </p:txBody>
      </p:sp>
      <p:pic>
        <p:nvPicPr>
          <p:cNvPr id="4" name="Content Placeholder 3" descr="pexels-photo-3264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38215" y="-36195"/>
            <a:ext cx="6143625" cy="6884670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/>
        </p:nvSpPr>
        <p:spPr>
          <a:xfrm>
            <a:off x="135890" y="1911985"/>
            <a:ext cx="5326380" cy="437261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Restructuring of </a:t>
            </a: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  <a:hlinkClick r:id="rId2" tooltip="" action="ppaction://hlinkfile"/>
              </a:rPr>
              <a:t>dynamic websites</a:t>
            </a: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 is simple.</a:t>
            </a:r>
            <a:endParaRPr lang="en-US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It provides the attractive look.</a:t>
            </a:r>
            <a:endParaRPr lang="en-US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It is useful for</a:t>
            </a: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  <a:hlinkClick r:id="rId3" tooltip="" action="ppaction://hlinkfile"/>
              </a:rPr>
              <a:t> E-commerce sites.</a:t>
            </a:r>
            <a:endParaRPr lang="en-US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  <a:latin typeface="Times New Roman" panose="02020603050405020304" charset="0"/>
                <a:sym typeface="+mn-ea"/>
              </a:rPr>
              <a:t>It provide a clear  andthe  well-organized look.</a:t>
            </a:r>
            <a:endParaRPr lang="en-US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pexels-photo-265667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36525" y="259715"/>
            <a:ext cx="4218940" cy="2723515"/>
          </a:xfrm>
          <a:prstGeom prst="rect">
            <a:avLst/>
          </a:prstGeom>
        </p:spPr>
      </p:pic>
      <p:pic>
        <p:nvPicPr>
          <p:cNvPr id="5" name="Content Placeholder 3" descr="pexels-photo-26566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539990" y="3780790"/>
            <a:ext cx="4617720" cy="29806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6"/>
          <p:cNvSpPr/>
          <p:nvPr/>
        </p:nvSpPr>
        <p:spPr>
          <a:xfrm>
            <a:off x="4480560" y="2552700"/>
            <a:ext cx="2934335" cy="17532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5400" b="1">
                <a:ln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hlinkClick r:id="rId2" tooltip="" action="ppaction://hlinkfile"/>
              </a:rPr>
              <a:t>Static</a:t>
            </a:r>
            <a:r>
              <a:rPr lang="en-US" altLang="zh-CN" sz="5400" b="1">
                <a:ln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 Vs </a:t>
            </a:r>
            <a:r>
              <a:rPr lang="en-US" altLang="zh-CN" sz="5400" b="1">
                <a:ln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hlinkClick r:id="rId3" tooltip="" action="ppaction://hlinkfile"/>
              </a:rPr>
              <a:t>Dynamic</a:t>
            </a:r>
            <a:r>
              <a:rPr lang="en-US" altLang="zh-CN" sz="5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  <a:t> </a:t>
            </a:r>
            <a:endParaRPr lang="en-US" altLang="zh-CN" sz="54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610" y="190500"/>
            <a:ext cx="11828145" cy="984250"/>
          </a:xfrm>
        </p:spPr>
        <p:txBody>
          <a:bodyPr/>
          <a:p>
            <a:pPr algn="ctr"/>
            <a:r>
              <a:rPr lang="en-US" altLang="zh-CN" sz="3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  <a:t>Static Website  Vs Dynamic Website</a:t>
            </a:r>
            <a:b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</a:rPr>
            </a:b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42035"/>
            <a:ext cx="5384800" cy="5498465"/>
          </a:xfrm>
        </p:spPr>
        <p:txBody>
          <a:bodyPr/>
          <a:p>
            <a:pPr marL="0" indent="0">
              <a:buNone/>
            </a:pPr>
            <a:r>
              <a:rPr lang="en-US" altLang="zh-CN" b="1">
                <a:solidFill>
                  <a:schemeClr val="accent2"/>
                </a:solidFill>
                <a:effectLst/>
                <a:latin typeface="Times New Roman" panose="02020603050405020304" charset="0"/>
                <a:sym typeface="+mn-ea"/>
                <a:hlinkClick r:id="rId1" tooltip="" action="ppaction://hlinkfile"/>
              </a:rPr>
              <a:t>Static Website</a:t>
            </a:r>
            <a:endParaRPr lang="en-US" altLang="zh-CN" b="1">
              <a:solidFill>
                <a:schemeClr val="accent2"/>
              </a:solidFill>
              <a:effectLst/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zh-CN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sz="3600">
                <a:solidFill>
                  <a:srgbClr val="C00000"/>
                </a:solidFill>
                <a:latin typeface="Times New Roman" panose="02020603050405020304" charset="0"/>
              </a:rPr>
              <a:t>It is used the HTML code to  develpoing a website.</a:t>
            </a:r>
            <a:endParaRPr lang="en-US" sz="3600">
              <a:solidFill>
                <a:srgbClr val="C00000"/>
              </a:solidFill>
              <a:latin typeface="Times New Roman" panose="02020603050405020304" charset="0"/>
            </a:endParaRPr>
          </a:p>
          <a:p>
            <a:pPr marL="0" indent="0">
              <a:buNone/>
            </a:pPr>
            <a:r>
              <a:rPr lang="en-US" sz="3600">
                <a:solidFill>
                  <a:srgbClr val="C00000"/>
                </a:solidFill>
                <a:latin typeface="Times New Roman" panose="02020603050405020304" charset="0"/>
              </a:rPr>
              <a:t>Flexibility is the important in the static website.</a:t>
            </a:r>
            <a:endParaRPr lang="en-US" sz="3600">
              <a:solidFill>
                <a:srgbClr val="C00000"/>
              </a:solidFill>
              <a:latin typeface="Times New Roman" panose="02020603050405020304" charset="0"/>
            </a:endParaRPr>
          </a:p>
          <a:p>
            <a:pPr marL="0" indent="0">
              <a:buNone/>
            </a:pPr>
            <a:r>
              <a:rPr lang="en-US" sz="3600">
                <a:solidFill>
                  <a:srgbClr val="C00000"/>
                </a:solidFill>
                <a:latin typeface="Times New Roman" panose="02020603050405020304" charset="0"/>
              </a:rPr>
              <a:t>The same  content webpage load in the website .</a:t>
            </a:r>
            <a:endParaRPr lang="en-US" sz="3600">
              <a:solidFill>
                <a:srgbClr val="C00000"/>
              </a:solidFill>
              <a:latin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811520" cy="5365750"/>
          </a:xfrm>
        </p:spPr>
        <p:txBody>
          <a:bodyPr/>
          <a:p>
            <a:pPr marL="0" indent="0">
              <a:buNone/>
            </a:pPr>
            <a:r>
              <a:rPr lang="en-US" altLang="zh-CN" b="1">
                <a:solidFill>
                  <a:schemeClr val="accent2"/>
                </a:solidFill>
                <a:effectLst/>
                <a:latin typeface="Times New Roman" panose="02020603050405020304" charset="0"/>
                <a:sym typeface="+mn-ea"/>
                <a:hlinkClick r:id="rId2" tooltip="" action="ppaction://hlinkfile"/>
              </a:rPr>
              <a:t>Dynamic Website</a:t>
            </a:r>
            <a:endParaRPr lang="en-US" altLang="zh-CN" b="1">
              <a:solidFill>
                <a:schemeClr val="accent2"/>
              </a:solidFill>
              <a:effectLst/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br>
              <a:rPr lang="en-US" alt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sym typeface="+mn-ea"/>
              </a:rPr>
            </a:br>
            <a:r>
              <a:rPr lang="en-US" altLang="zh-CN" sz="3600">
                <a:solidFill>
                  <a:srgbClr val="C00000"/>
                </a:solidFill>
                <a:effectLst/>
                <a:latin typeface="Times New Roman" panose="02020603050405020304" charset="0"/>
                <a:sym typeface="+mn-ea"/>
              </a:rPr>
              <a:t>It is used the sever side Scripting language .</a:t>
            </a:r>
            <a:endParaRPr lang="en-US" altLang="zh-CN" sz="3600">
              <a:solidFill>
                <a:srgbClr val="C00000"/>
              </a:solidFill>
              <a:effectLst/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sz="3600">
                <a:solidFill>
                  <a:srgbClr val="C00000"/>
                </a:solidFill>
                <a:latin typeface="Times New Roman" panose="02020603050405020304" charset="0"/>
              </a:rPr>
              <a:t>CMS </a:t>
            </a:r>
            <a:r>
              <a:rPr lang="en-US" sz="3600">
                <a:solidFill>
                  <a:srgbClr val="C00000"/>
                </a:solidFill>
                <a:latin typeface="Times New Roman" panose="02020603050405020304" charset="0"/>
                <a:sym typeface="+mn-ea"/>
              </a:rPr>
              <a:t>is the important in the dynamic website.</a:t>
            </a:r>
            <a:endParaRPr lang="en-US" sz="3600">
              <a:solidFill>
                <a:srgbClr val="C00000"/>
              </a:solidFill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sz="3600">
                <a:solidFill>
                  <a:srgbClr val="C00000"/>
                </a:solidFill>
                <a:latin typeface="Times New Roman" panose="02020603050405020304" charset="0"/>
              </a:rPr>
              <a:t>The content  is generate quickly.</a:t>
            </a:r>
            <a:endParaRPr lang="en-US" sz="3600">
              <a:solidFill>
                <a:srgbClr val="C00000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400" b="1">
                <a:solidFill>
                  <a:srgbClr val="FF0000"/>
                </a:solidFill>
                <a:latin typeface="Times New Roman" panose="02020603050405020304" charset="0"/>
              </a:rPr>
              <a:t>Contact Us:</a:t>
            </a:r>
            <a:endParaRPr lang="en-US" altLang="zh-CN" sz="44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975" y="1174750"/>
            <a:ext cx="4085590" cy="4953000"/>
          </a:xfrm>
        </p:spPr>
        <p:txBody>
          <a:bodyPr/>
          <a:p>
            <a:pPr lvl="0" algn="l" rtl="0">
              <a:spcBef>
                <a:spcPts val="0"/>
              </a:spcBef>
              <a:buNone/>
            </a:pPr>
            <a:r>
              <a:rPr lang="en-US" altLang="en-GB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 </a:t>
            </a:r>
            <a:r>
              <a:rPr lang="en-GB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E-mail :</a:t>
            </a:r>
            <a:endParaRPr lang="en-GB" b="1">
              <a:solidFill>
                <a:srgbClr val="FF0000"/>
              </a:solidFill>
              <a:latin typeface="Times New Roman" panose="02020603050405020304" charset="0"/>
              <a:sym typeface="+mn-ea"/>
            </a:endParaRPr>
          </a:p>
          <a:p>
            <a:pPr lvl="0" rtl="0">
              <a:spcBef>
                <a:spcPts val="0"/>
              </a:spcBef>
              <a:buNone/>
            </a:pPr>
            <a:endParaRPr lang="en-GB" b="1">
              <a:solidFill>
                <a:schemeClr val="dk1"/>
              </a:solidFill>
              <a:latin typeface="Times New Roman" panose="02020603050405020304" charset="0"/>
              <a:sym typeface="+mn-ea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GB" b="1">
                <a:solidFill>
                  <a:schemeClr val="dk1"/>
                </a:solidFill>
                <a:latin typeface="Times New Roman" panose="02020603050405020304" charset="0"/>
                <a:sym typeface="+mn-ea"/>
              </a:rPr>
              <a:t>info@seoczar.com</a:t>
            </a:r>
            <a:endParaRPr lang="en-GB" b="1">
              <a:solidFill>
                <a:schemeClr val="dk1"/>
              </a:solidFill>
              <a:latin typeface="Times New Roman" panose="02020603050405020304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GB" b="1">
                <a:solidFill>
                  <a:schemeClr val="dk1"/>
                </a:solidFill>
                <a:latin typeface="Times New Roman" panose="02020603050405020304" charset="0"/>
                <a:sym typeface="+mn-ea"/>
              </a:rPr>
              <a:t>contact@seoczar.com</a:t>
            </a:r>
            <a:endParaRPr lang="en-GB" b="1">
              <a:solidFill>
                <a:schemeClr val="dk1"/>
              </a:solidFill>
              <a:latin typeface="Times New Roman" panose="02020603050405020304" charset="0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GB" b="1">
                <a:solidFill>
                  <a:schemeClr val="dk1"/>
                </a:solidFill>
                <a:latin typeface="Times New Roman" panose="02020603050405020304" charset="0"/>
                <a:sym typeface="+mn-ea"/>
              </a:rPr>
              <a:t>support@seoczar.com</a:t>
            </a:r>
            <a:endParaRPr lang="en-US">
              <a:latin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570" y="1174750"/>
            <a:ext cx="3752215" cy="4953000"/>
          </a:xfrm>
        </p:spPr>
        <p:txBody>
          <a:bodyPr/>
          <a:p>
            <a:pPr marL="0" indent="0">
              <a:buNone/>
            </a:pPr>
            <a:r>
              <a:rPr lang="en-GB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Visit us</a:t>
            </a:r>
            <a:r>
              <a:rPr lang="en-GB" b="1">
                <a:solidFill>
                  <a:schemeClr val="dk1"/>
                </a:solidFill>
                <a:latin typeface="Times New Roman" panose="02020603050405020304" charset="0"/>
                <a:sym typeface="+mn-ea"/>
              </a:rPr>
              <a:t> </a:t>
            </a:r>
            <a:r>
              <a:rPr lang="en-GB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 : </a:t>
            </a:r>
            <a:endParaRPr lang="en-GB" b="1">
              <a:solidFill>
                <a:srgbClr val="FF0000"/>
              </a:solidFill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GB" b="1">
              <a:solidFill>
                <a:srgbClr val="FF0000"/>
              </a:solidFill>
              <a:latin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GB" b="1">
                <a:solidFill>
                  <a:schemeClr val="dk1"/>
                </a:solidFill>
                <a:latin typeface="Times New Roman" panose="02020603050405020304" charset="0"/>
                <a:sym typeface="+mn-ea"/>
                <a:hlinkClick r:id="rId1" tooltip="" action="ppaction://hlinkfile"/>
              </a:rPr>
              <a:t>https://www.seoczar.com/</a:t>
            </a:r>
            <a:endParaRPr lang="en-US">
              <a:latin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9" name="Subtitle 2"/>
          <p:cNvSpPr>
            <a:spLocks noGrp="1"/>
          </p:cNvSpPr>
          <p:nvPr/>
        </p:nvSpPr>
        <p:spPr>
          <a:xfrm>
            <a:off x="8625840" y="1242695"/>
            <a:ext cx="3302635" cy="488505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10" name="Subtitle 2"/>
          <p:cNvSpPr>
            <a:spLocks noGrp="1"/>
          </p:cNvSpPr>
          <p:nvPr/>
        </p:nvSpPr>
        <p:spPr>
          <a:xfrm>
            <a:off x="9094470" y="1242695"/>
            <a:ext cx="2969895" cy="467487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buClr>
                <a:srgbClr val="000000"/>
              </a:buClr>
              <a:buSzPct val="52000"/>
              <a:buFont typeface="Arial" panose="020B0604020202020204"/>
              <a:buNone/>
            </a:pPr>
            <a:r>
              <a:rPr lang="en-GB" b="1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Phone Number :</a:t>
            </a:r>
            <a:endParaRPr lang="en-GB" b="1">
              <a:solidFill>
                <a:srgbClr val="FF0000"/>
              </a:solidFill>
              <a:latin typeface="Times New Roman" panose="02020603050405020304" charset="0"/>
              <a:sym typeface="+mn-ea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ct val="52000"/>
              <a:buFont typeface="Arial" panose="020B0604020202020204"/>
              <a:buNone/>
            </a:pPr>
            <a:endParaRPr lang="en-GB" b="1">
              <a:solidFill>
                <a:srgbClr val="FF0000"/>
              </a:solidFill>
              <a:latin typeface="Times New Roman" panose="02020603050405020304" charset="0"/>
              <a:sym typeface="+mn-ea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ct val="52000"/>
              <a:buFont typeface="Arial" panose="020B0604020202020204"/>
              <a:buNone/>
            </a:pPr>
            <a:r>
              <a:rPr lang="en-GB" b="1">
                <a:solidFill>
                  <a:schemeClr val="dk1"/>
                </a:solidFill>
                <a:latin typeface="Times New Roman" panose="02020603050405020304" charset="0"/>
                <a:sym typeface="+mn-ea"/>
              </a:rPr>
              <a:t>+91-7838759114 (India)</a:t>
            </a:r>
            <a:endParaRPr lang="en-US">
              <a:latin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>
              <a:solidFill>
                <a:srgbClr val="FFC000"/>
              </a:solidFill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